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67C8D4-BFD8-93B9-8709-FB3A9DC798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2EB2F-F5DC-1140-3768-748B530AF4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F8DD1-E389-48D1-92B4-08FCB2AAE2A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E6660-B1C0-D901-CB7A-233B9E7007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A06C9-A9D8-9D92-F69A-DDFC04EE76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92325-2CE5-44B3-A369-FF9EC17E3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2772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BDD32-9DB6-4B87-9BD0-B6091B43E4B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3E785-DDB3-40E3-8A47-EC990F49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64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Capstone Project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Predicting Diabetes Risk with Explainable AI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SHAP &amp; LIME explanations +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app for transparent screening</a:t>
            </a:r>
            <a:b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Mohamed Makki</a:t>
            </a:r>
            <a:r>
              <a:rPr lang="en-US" sz="2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i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Capstone Project – December 2025</a:t>
            </a:r>
            <a:br>
              <a:rPr lang="en-US" dirty="0"/>
            </a:b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9389EA-0D24-4148-CAE1-9A8BC26B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509" y="1417638"/>
            <a:ext cx="3370928" cy="1746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sz="2800" dirty="0"/>
          </a:p>
          <a:p>
            <a:pPr lvl="0"/>
            <a:r>
              <a:rPr lang="en-US" sz="2800" dirty="0"/>
              <a:t>Diabetes is a growing global health challenge.</a:t>
            </a:r>
          </a:p>
          <a:p>
            <a:pPr lvl="0"/>
            <a:r>
              <a:rPr lang="en-US" sz="2800" dirty="0"/>
              <a:t>Early identification prevents complications and reduces costs.</a:t>
            </a:r>
          </a:p>
          <a:p>
            <a:pPr lvl="0"/>
            <a:r>
              <a:rPr lang="en-US" sz="2800" dirty="0"/>
              <a:t>Many communities lack accessible, interpretable screening tools.</a:t>
            </a:r>
          </a:p>
          <a:p>
            <a:pPr lvl="0"/>
            <a:r>
              <a:rPr lang="en-US" sz="2800" dirty="0"/>
              <a:t>Black-box models limit trust and clinical adoption.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1FBD-CC9B-3E93-FB7C-43BF13B7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A1F5-DA6F-E19F-FB38-217EEACF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Main Question:</a:t>
            </a:r>
          </a:p>
          <a:p>
            <a:pPr marL="0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How can we build a reliable, explainable, and accessible ML system to predict diabetes risk and convey severity?</a:t>
            </a:r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Sub-questions: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Which features most influence predictions?  </a:t>
            </a:r>
          </a:p>
          <a:p>
            <a:pPr marL="0" lv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How well can models classify high-risk cases?</a:t>
            </a:r>
          </a:p>
          <a:p>
            <a:pPr marL="0" lv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How should explanations be visualized for non-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technical users?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5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Initial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Frame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 &amp; research question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Verify and clean dataset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Build baseline + tuned models</a:t>
            </a:r>
          </a:p>
          <a:p>
            <a:pPr marL="0" indent="0">
              <a:buNone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- Implement XAI (SHAP)</a:t>
            </a:r>
          </a:p>
          <a:p>
            <a:pPr marL="0" indent="0">
              <a:buNone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- Deploy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3191233"/>
            <a:ext cx="4483510" cy="293493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Target: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0005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Outcome (0 = No Diabetes, 1 = Diabetes)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Preprocessing:</a:t>
            </a:r>
          </a:p>
          <a:p>
            <a:pPr marL="400050" lvl="1" indent="0"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train/test split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4D2A0-DBF4-E74F-7D64-E7D6B0B07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477" y="3191233"/>
            <a:ext cx="3960982" cy="3117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A60E7D-B91A-DBED-B69B-D3CD50140D87}"/>
              </a:ext>
            </a:extLst>
          </p:cNvPr>
          <p:cNvSpPr txBox="1"/>
          <p:nvPr/>
        </p:nvSpPr>
        <p:spPr>
          <a:xfrm>
            <a:off x="457200" y="1223567"/>
            <a:ext cx="8229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Pima Indians Diabetes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Features: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Pregnancies, Glucose,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BloodPressure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SkinThickness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Insulin, BMI,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DiabetesPedigree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Feature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7891"/>
            <a:ext cx="4114800" cy="3321967"/>
          </a:xfrm>
        </p:spPr>
        <p:txBody>
          <a:bodyPr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Age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DiabetesPedigree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moderately correlated.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BloodPressure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SkinThickness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less predictive</a:t>
            </a:r>
            <a:r>
              <a:rPr lang="en-US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9CA25-A366-C4B8-1FB2-6110B6D31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316" y="2062744"/>
            <a:ext cx="4921125" cy="426989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2E10F6-230F-980A-8506-4865B466BD37}"/>
              </a:ext>
            </a:extLst>
          </p:cNvPr>
          <p:cNvSpPr txBox="1">
            <a:spLocks/>
          </p:cNvSpPr>
          <p:nvPr/>
        </p:nvSpPr>
        <p:spPr>
          <a:xfrm>
            <a:off x="609599" y="1422554"/>
            <a:ext cx="7944465" cy="928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Glucose and BMI show strongest correlation with diabetes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  Modeling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07626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Data→ Preprocessing → EDA and Baseline Modeling → XAI →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Model Tuning → Evaluation →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Deployment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App) → 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final report / presentation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Models used: Logistic Regression, Random Forest,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Tuning via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RandomizedSearchCV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40C2BC-EB0B-F43F-6969-5844A6020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142" y="0"/>
            <a:ext cx="32685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35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36563"/>
            <a:ext cx="4085304" cy="2234739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Glucose: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Higher in diabetic cases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BMI: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Broader and higher in diabetic cases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Age: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Subtle differences, interacts with other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66700-AD71-CA0B-EA26-0EBBA812E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0" y="988142"/>
            <a:ext cx="3982066" cy="2947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6A4F7E-A99E-7D9F-FC4D-9C6BCC317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504" y="923931"/>
            <a:ext cx="4114800" cy="3011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7530A7-6344-B89E-7FB1-B87E92560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734" y="3935321"/>
            <a:ext cx="3982066" cy="28980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Model Performance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23C677-431D-5925-FE1B-B1716C8D1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652374"/>
              </p:ext>
            </p:extLst>
          </p:nvPr>
        </p:nvGraphicFramePr>
        <p:xfrm>
          <a:off x="553064" y="1245920"/>
          <a:ext cx="8229600" cy="1463040"/>
        </p:xfrm>
        <a:graphic>
          <a:graphicData uri="http://schemas.openxmlformats.org/drawingml/2006/table">
            <a:tbl>
              <a:tblPr/>
              <a:tblGrid>
                <a:gridCol w="2227006">
                  <a:extLst>
                    <a:ext uri="{9D8B030D-6E8A-4147-A177-3AD203B41FA5}">
                      <a16:colId xmlns:a16="http://schemas.microsoft.com/office/drawing/2014/main" val="2814799616"/>
                    </a:ext>
                  </a:extLst>
                </a:gridCol>
                <a:gridCol w="1401097">
                  <a:extLst>
                    <a:ext uri="{9D8B030D-6E8A-4147-A177-3AD203B41FA5}">
                      <a16:colId xmlns:a16="http://schemas.microsoft.com/office/drawing/2014/main" val="1687603635"/>
                    </a:ext>
                  </a:extLst>
                </a:gridCol>
                <a:gridCol w="1342103">
                  <a:extLst>
                    <a:ext uri="{9D8B030D-6E8A-4147-A177-3AD203B41FA5}">
                      <a16:colId xmlns:a16="http://schemas.microsoft.com/office/drawing/2014/main" val="1696000252"/>
                    </a:ext>
                  </a:extLst>
                </a:gridCol>
                <a:gridCol w="958646">
                  <a:extLst>
                    <a:ext uri="{9D8B030D-6E8A-4147-A177-3AD203B41FA5}">
                      <a16:colId xmlns:a16="http://schemas.microsoft.com/office/drawing/2014/main" val="1484072821"/>
                    </a:ext>
                  </a:extLst>
                </a:gridCol>
                <a:gridCol w="1179871">
                  <a:extLst>
                    <a:ext uri="{9D8B030D-6E8A-4147-A177-3AD203B41FA5}">
                      <a16:colId xmlns:a16="http://schemas.microsoft.com/office/drawing/2014/main" val="1141460020"/>
                    </a:ext>
                  </a:extLst>
                </a:gridCol>
                <a:gridCol w="1120877">
                  <a:extLst>
                    <a:ext uri="{9D8B030D-6E8A-4147-A177-3AD203B41FA5}">
                      <a16:colId xmlns:a16="http://schemas.microsoft.com/office/drawing/2014/main" val="2594613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070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0.813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450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0.824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01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0.828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80211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2D82E8-6833-E89C-8215-A540710A063E}"/>
              </a:ext>
            </a:extLst>
          </p:cNvPr>
          <p:cNvSpPr txBox="1">
            <a:spLocks/>
          </p:cNvSpPr>
          <p:nvPr/>
        </p:nvSpPr>
        <p:spPr>
          <a:xfrm>
            <a:off x="648928" y="2703956"/>
            <a:ext cx="8037871" cy="514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Confusion matrices show class-specific tradeoffs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69263D-AEB0-ADB0-BAD3-D4F5528E8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64" y="3218039"/>
            <a:ext cx="7905135" cy="36296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Calibration &amp; Reliability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7" y="1054510"/>
            <a:ext cx="8229600" cy="1496961"/>
          </a:xfrm>
        </p:spPr>
        <p:txBody>
          <a:bodyPr/>
          <a:lstStyle/>
          <a:p>
            <a:r>
              <a:rPr lang="en-US" sz="2800" dirty="0"/>
              <a:t>Calibrated probabilities align well with actual outcomes</a:t>
            </a:r>
          </a:p>
          <a:p>
            <a:r>
              <a:rPr lang="en-US" sz="2800" dirty="0"/>
              <a:t>Important for clinical decision-making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22DCF-75EA-E613-0721-5D60F5027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2468871"/>
            <a:ext cx="7226709" cy="43891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100847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SHAP Global Explanations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4" y="1054510"/>
            <a:ext cx="8229600" cy="1172495"/>
          </a:xfrm>
        </p:spPr>
        <p:txBody>
          <a:bodyPr>
            <a:normAutofit fontScale="47500" lnSpcReduction="20000"/>
          </a:bodyPr>
          <a:lstStyle/>
          <a:p>
            <a:r>
              <a:rPr lang="en-US" sz="5100" b="1" dirty="0">
                <a:latin typeface="Arial" panose="020B0604020202020204" pitchFamily="34" charset="0"/>
                <a:cs typeface="Arial" panose="020B0604020202020204" pitchFamily="34" charset="0"/>
              </a:rPr>
              <a:t>Top features:</a:t>
            </a:r>
            <a:r>
              <a:rPr lang="en-US" sz="5100" dirty="0">
                <a:latin typeface="Arial" panose="020B0604020202020204" pitchFamily="34" charset="0"/>
                <a:cs typeface="Arial" panose="020B0604020202020204" pitchFamily="34" charset="0"/>
              </a:rPr>
              <a:t> Glucose, BMI, </a:t>
            </a:r>
            <a:r>
              <a:rPr lang="en-US" sz="5100" dirty="0" err="1">
                <a:latin typeface="Arial" panose="020B0604020202020204" pitchFamily="34" charset="0"/>
                <a:cs typeface="Arial" panose="020B0604020202020204" pitchFamily="34" charset="0"/>
              </a:rPr>
              <a:t>DiabetesPedigree</a:t>
            </a:r>
            <a:r>
              <a:rPr lang="en-US" sz="5100" dirty="0">
                <a:latin typeface="Arial" panose="020B0604020202020204" pitchFamily="34" charset="0"/>
                <a:cs typeface="Arial" panose="020B0604020202020204" pitchFamily="34" charset="0"/>
              </a:rPr>
              <a:t>, Age.</a:t>
            </a:r>
          </a:p>
          <a:p>
            <a:pPr marL="0" indent="0">
              <a:buNone/>
            </a:pPr>
            <a:endParaRPr lang="en-US" sz="5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100" dirty="0">
                <a:latin typeface="Arial" panose="020B0604020202020204" pitchFamily="34" charset="0"/>
                <a:cs typeface="Arial" panose="020B0604020202020204" pitchFamily="34" charset="0"/>
              </a:rPr>
              <a:t>SHAP summary plot shows feature impact and direction</a:t>
            </a:r>
          </a:p>
          <a:p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167F4-D64F-00D9-0124-149A25F9D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61" y="2227005"/>
            <a:ext cx="7728155" cy="4459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6651"/>
            <a:ext cx="8229600" cy="91998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SHAP Feature Effects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776" y="1076632"/>
            <a:ext cx="4114800" cy="25662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Higher Glucose and BMI increase risk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Age and Pedigree interact with other features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95F2A-E2DD-74BD-11DF-AAD2A4B6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676" y="889380"/>
            <a:ext cx="4021702" cy="2779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5B4215-7FE9-F236-C6B7-33439749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103" y="3642852"/>
            <a:ext cx="4169836" cy="29201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78E317-C5B2-1A07-714C-BC5ECDACF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93" y="3590296"/>
            <a:ext cx="4254008" cy="29201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3239"/>
            <a:ext cx="8229600" cy="72267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LIME Local Explanations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7923"/>
            <a:ext cx="8229600" cy="1939413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Case-level breakdown of prediction drivers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Case 3: BMI and Glucose lower risk; Pedigree and Insulin raise risk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Case 9: Glucose and BMI drive high-risk prediction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DC94A-7578-F9B3-9F00-22A879F1F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3910"/>
            <a:ext cx="4454013" cy="4208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7C2AE-B9FA-7146-28EA-909459FD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05" y="2647336"/>
            <a:ext cx="4547495" cy="42106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F97F-5DFC-4779-3552-258C8931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App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C3BE-B2D4-F80A-DCCE-2F91737EF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clinical values → Predict risk → Show explanations</a:t>
            </a:r>
          </a:p>
          <a:p>
            <a:r>
              <a:rPr lang="en-US" dirty="0"/>
              <a:t>Clear UI for non-specialists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13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9A6D-D163-C1F3-00AD-A22A9068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Discussion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9038-DE5B-1267-34F1-66F9FC09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Strengths: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Good ROC-AUC, calibrated outputs, interpretable predictions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Class imbalance, moderate recall, single dataset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Ethical notes: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Transparency, fairness, clinical caution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686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0518-5F94-4D56-FE57-50208B1E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Conclusion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E2A5-81C7-2CBD-DBEA-11343E5C4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Tuned models offer solid performance and interpretability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SHAP/LIME enhance trust and usability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app supports scalable screening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Future work: external validation, fairness checks, multilingual 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5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0263-D5C5-DB1E-BEBF-0E8A4E94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Acknowledgements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1F332-DAAE-AC67-160E-D5AE86CCF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Mentors, collaborators, program cohort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Dataset: Pima Indians Diabetes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Libraries: scikit-learn,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SHAP, LIME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16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F626-67E6-F3EB-E16A-CA2CE38E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9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B4024-7BEF-A699-D8BD-64E3A6296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35477"/>
          </a:xfrm>
        </p:spPr>
        <p:txBody>
          <a:bodyPr/>
          <a:lstStyle/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discuss how explainable AI can support real-world healthcare?.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1A337-4D6E-26FE-F409-7A1B451F9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954" y="5810105"/>
            <a:ext cx="1729935" cy="89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7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530</Words>
  <Application>Microsoft Office PowerPoint</Application>
  <PresentationFormat>On-screen Show (4:3)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Capstone Project</vt:lpstr>
      <vt:lpstr>Problem Overview</vt:lpstr>
      <vt:lpstr>Research Question </vt:lpstr>
      <vt:lpstr>Initial Goals</vt:lpstr>
      <vt:lpstr>Dataset Overview</vt:lpstr>
      <vt:lpstr>Feature Correlation</vt:lpstr>
      <vt:lpstr>        Modeling Pipeline</vt:lpstr>
      <vt:lpstr>Exploratory Data Analysis</vt:lpstr>
      <vt:lpstr>Model Performance Comparison</vt:lpstr>
      <vt:lpstr>Calibration &amp; Reliability</vt:lpstr>
      <vt:lpstr>SHAP Global Explanations</vt:lpstr>
      <vt:lpstr>SHAP Feature Effects</vt:lpstr>
      <vt:lpstr>LIME Local Explanations</vt:lpstr>
      <vt:lpstr>Streamlit App Demo</vt:lpstr>
      <vt:lpstr>Discussion &amp; Limitations</vt:lpstr>
      <vt:lpstr>Conclusion &amp; Impact</vt:lpstr>
      <vt:lpstr>Acknowledgements &amp; References</vt:lpstr>
      <vt:lpstr>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mhd makki11</cp:lastModifiedBy>
  <cp:revision>38</cp:revision>
  <dcterms:created xsi:type="dcterms:W3CDTF">2013-01-27T09:14:16Z</dcterms:created>
  <dcterms:modified xsi:type="dcterms:W3CDTF">2025-12-05T20:49:58Z</dcterms:modified>
  <cp:category/>
</cp:coreProperties>
</file>